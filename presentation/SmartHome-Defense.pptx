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04" autoAdjust="0"/>
    <p:restoredTop sz="94610" autoAdjust="0"/>
  </p:normalViewPr>
  <p:slideViewPr>
    <p:cSldViewPr snapToGrid="0" snapToObjects="1">
      <p:cViewPr varScale="1">
        <p:scale>
          <a:sx n="82" d="100"/>
          <a:sy n="82" d="100"/>
        </p:scale>
        <p:origin x="547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47" d="100"/>
          <a:sy n="47" d="100"/>
        </p:scale>
        <p:origin x="3552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9437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سلام و احترام. عنوان پروژه: سامانه خانه هوشمند مبتنی بر IoT با هوش مصنوعی روی لبه و زیرساخت کاملاً لوکال. ارائه در ~۲۰ دقیقه؛ بخش اصلی: هوش مصنوعی روی لبه.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مسیر ارائه: از مسئله تا جمع‌بندی. تأکید: بخش ۴ (هوش مصنوعی روی لبه) مفصل‌ترین بخش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سه مشکل ابر: حریم خصوصی، قطعی، تاخیر. + هزینه سخت‌افزار بینایی ماشین. سپس پرسش اصلی پروژه.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بلوک دیاگرام: گوشی فقط دوربین را قرض می‌دهد؛ همه پردازش روی ESP32-S3؛ سرور خانگی Docker؛ اینترنت اختیاری فقط برای آرشیو/اعلان.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۸ هدف رسمی پروژه — همان فهرست فصل ۱ گزارش.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۶ ویژگی متمایز؛ مهم‌ترین‌ها: هوش روی لبه و قرض گرفتن دوربین از گوشی.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پشته نرم‌افزاری از سخت‌افزار تا سرویس کاربر. سمت راست: فهرست فناوری‌ها.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سمت راست سخت‌افزار، سمت چپ فریمور. تأکید بر PSRAM به‌عنوان عامل امکان‌سنج اجرای هم‌زمان UI+TLS+CNN.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Topicهای سلسله‌مراتبی؛ افزودن مشترک جدید بدون تغییر برد. جدول topicها در گزارش (۵-۱).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بخش اصلی: دو محور هوش مصنوعی. ابتدا تشخیص چهره، سپس عامل یادگیری رفتاری با تشریح کامل مدل.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تصویر JPEG تا ۳۰۰KB از مرورگر گوشی → رمزگشایی سخت‌افزاری به RGB565 ۳۲۰×۲۴۰ در PSRAM → آشکارسازی HumanFaceDetect → استخراج embedding با HumanFaceRecognizer → تطبیق با پایگاه چهره در SPIFFS؛ آستانه ۰٫۷۰.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جریان ثبت‌چهره ۴ مرحله؛ نکته: آستانه ۰٫۷۰ با ثبت چندنمونه‌ای کفایت می‌کند (تصمیم آگاهانه).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دو مدل مستقل چراغ/فن. ویژگی‌ها کاملاً زمینه‌ای: زمان روی دایره (همسازها)، تعطیلات، حضور، نور/دما/رطوبت. درس کلیدی: حذف ویژگی وضعیت دستگاه → رفع پسماند.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این شکل کامل‌ترین نمای مدل است: ورودی‌ها، نورون سیگموئید هر دستگاه، قاعده تصمیم با آستانه‌ها، گیت ارتقا، پیش‌آموزش آفلاین، SGD برخط و ماندگاری در NVS. قفل در هرگز تحت کنترل مدل نیست.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آموزش دو مرحله‌ای: آفلاین numpy (GD کامل + L2)؛ سپس SGD برخط روی تراشه با η=۰٫۰۸ و clip ±۸. قرارداد حساس: ترتیب ویژگی‌ها بین Python و C دقیقاً یکی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گیف: نمودار چپ p(light ON) در طول روز؛ نمودار راست وزن‌ها. حرکت: هر اقدام کاربر گام SGD؛ خم به سمت الگوی واقعی؛ سپس ارتقا.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چرخه سایه→خودکار + بازگشت به سایه با سوییچ HA. قاعده امنیتی سخت: قفل بیرون از کنترل مدل.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دقت روی ۶ روز پایانی داده. سه سناریوی مرجع روی فریمور واقعی. مدل عملاً به سقف بیزی رسیده.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چهار کانال: LCD، وب موبایل، داشبورد HA، اپ HA. جدول endpoint ها در گزارش (۷-۱).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مستقل از HA و MQTT. تفکیک اعتبارنامه‌ها: ارتباط برد-سرور فقط با رمز مشترک.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چهار محور امنیتی. تأکید: تصویر چهره هرگز از دستگاه خارج نمی‌شود؛ قفل fail-safe است؛ مرز Mosquitto شناخته‌شده و مسیر ارتقای آن برنامه‌ریزی‌شده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آزمون سناریومحور E2E توسط کاربر واقعی. گزیده ۷ سناریو از ۱۴ سناریوی جدول ۱۰-۱.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هر چالش: علامت → ریشه → فیکس. نشان‌دهنده مهارت ریشه‌یابی واقعی در سیستم‌های نهفته.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جمع‌بندی: پروژه به همه اهداف طراحی رسید. آینده: فدرال، صوتی، liveness، OTA، امن‌سازی، PCB.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پایان ارائه. آماده پاسخ به پرسش‌ها. اسلایدهای ۱۴ و ۱۶ برای بازگشت سریع در پرسش‌های ML مناسب‌اند.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Project/Smart-Home/report/figs/logo_1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27548" y="457200"/>
            <a:ext cx="1133856" cy="11338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755648"/>
            <a:ext cx="10360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chemeClr val="bg2">
                    <a:lumMod val="90000"/>
                  </a:schemeClr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دانشگاه صنعتی اصفهان</a:t>
            </a:r>
            <a:endParaRPr lang="en-US" sz="17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4" name="Text 1"/>
          <p:cNvSpPr/>
          <p:nvPr/>
        </p:nvSpPr>
        <p:spPr>
          <a:xfrm>
            <a:off x="914400" y="2121408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دانشکده مهندسی برق و کامپیوتر</a:t>
            </a:r>
            <a:endParaRPr lang="en-US" sz="14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40080" y="26974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700" dirty="0">
                <a:solidFill>
                  <a:srgbClr val="FFFFF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طراحی و پیاده‌سازی سامانه خانه هوشمند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1235964" y="3520440"/>
            <a:ext cx="9720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120000"/>
              </a:lnSpc>
              <a:buNone/>
            </a:pPr>
            <a:r>
              <a:rPr lang="en-US" sz="1900" dirty="0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مبتنی بر اینترنت اشیا با پردازش هوش مصنوعی روی لبه و </a:t>
            </a:r>
            <a:r>
              <a:rPr lang="en-US" sz="1900" dirty="0" err="1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زیرساخت</a:t>
            </a:r>
            <a:r>
              <a:rPr lang="en-US" sz="1900" dirty="0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fa-IR" sz="1900" dirty="0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تمام محلی</a:t>
            </a:r>
            <a:r>
              <a:rPr lang="en-US" sz="1900" dirty="0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بدون نیاز به فضای ابری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088636" y="4434840"/>
            <a:ext cx="2011680" cy="0"/>
          </a:xfrm>
          <a:prstGeom prst="line">
            <a:avLst/>
          </a:prstGeom>
          <a:noFill/>
          <a:ln w="12700">
            <a:solidFill>
              <a:srgbClr val="C9962E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8" name="Text 5"/>
          <p:cNvSpPr/>
          <p:nvPr/>
        </p:nvSpPr>
        <p:spPr>
          <a:xfrm>
            <a:off x="914400" y="4617720"/>
            <a:ext cx="10360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پروژه </a:t>
            </a:r>
            <a:r>
              <a:rPr lang="en-US" sz="1400" dirty="0" err="1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تخصصی</a:t>
            </a:r>
            <a:r>
              <a:rPr lang="en-US" sz="1400" dirty="0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400" dirty="0" err="1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کارشناسی</a:t>
            </a:r>
            <a:r>
              <a:rPr lang="en-US" sz="1400" dirty="0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— </a:t>
            </a:r>
            <a:r>
              <a:rPr lang="fa-IR" sz="1400" dirty="0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400" dirty="0" err="1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رشته</a:t>
            </a:r>
            <a:r>
              <a:rPr lang="en-US" sz="1400" dirty="0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مهندسی کامپیوتر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5396829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b="1" dirty="0" err="1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استاد</a:t>
            </a:r>
            <a:r>
              <a:rPr lang="en-US" sz="1600" b="1" dirty="0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راهنما</a:t>
            </a:r>
            <a:r>
              <a:rPr lang="en-US" sz="1600" b="1" dirty="0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: </a:t>
            </a:r>
            <a:r>
              <a:rPr lang="fa-IR" sz="1600" b="1" dirty="0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دکتر</a:t>
            </a:r>
            <a:r>
              <a:rPr lang="en-US" sz="1600" b="1" dirty="0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امیر خورسندی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9834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b="1" dirty="0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دانشجو: </a:t>
            </a:r>
            <a:r>
              <a:rPr lang="fa-IR" sz="1600" b="1" dirty="0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محمد</a:t>
            </a:r>
            <a:r>
              <a:rPr lang="en-US" sz="1600" b="1" dirty="0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سروش ربیعی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14400" y="6315893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مهر ۱۴۰۵</a:t>
            </a:r>
            <a:endParaRPr lang="en-US" sz="13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84F068B1-A22D-DDB6-4F30-69E77466092E}"/>
              </a:ext>
            </a:extLst>
          </p:cNvPr>
          <p:cNvSpPr/>
          <p:nvPr/>
        </p:nvSpPr>
        <p:spPr>
          <a:xfrm>
            <a:off x="914400" y="5795091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b="1" dirty="0" err="1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استاد</a:t>
            </a:r>
            <a:r>
              <a:rPr lang="en-US" sz="1600" b="1" dirty="0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fa-IR" sz="1600" b="1" dirty="0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داور</a:t>
            </a:r>
            <a:r>
              <a:rPr lang="en-US" sz="1600" b="1" dirty="0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: </a:t>
            </a:r>
            <a:r>
              <a:rPr lang="fa-IR" sz="1600" b="1" dirty="0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دکتر</a:t>
            </a:r>
            <a:r>
              <a:rPr lang="en-US" sz="1600" b="1" dirty="0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fa-IR" sz="1600" b="1" dirty="0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مسعودرضا هاشمی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نقشه ارائه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فهرست مطالب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164824" y="167335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۱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199632" y="16916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بیان مسئله و اهداف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199632" y="202996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چرا خانه هوشمند بدون ابر؟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99632" y="2606040"/>
            <a:ext cx="553212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8" name="Text 6"/>
          <p:cNvSpPr/>
          <p:nvPr/>
        </p:nvSpPr>
        <p:spPr>
          <a:xfrm>
            <a:off x="11164824" y="2752344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۲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199632" y="27706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معماری، سخت‌افزار و firmware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199632" y="3108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ESP32-S3، FreeRTOS، نمایشگر لمسی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9632" y="3685032"/>
            <a:ext cx="553212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2" name="Text 10"/>
          <p:cNvSpPr/>
          <p:nvPr/>
        </p:nvSpPr>
        <p:spPr>
          <a:xfrm>
            <a:off x="11164824" y="383133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۳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199632" y="38496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زیرساخت لوکال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199632" y="41879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MQTT و Home Assistant با Docker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99632" y="4764024"/>
            <a:ext cx="553212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6" name="Text 14"/>
          <p:cNvSpPr/>
          <p:nvPr/>
        </p:nvSpPr>
        <p:spPr>
          <a:xfrm>
            <a:off x="11164824" y="49103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۴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199632" y="492861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هوش مصنوعی روی لبه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199632" y="526694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تشخیص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چهره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+ </a:t>
            </a:r>
            <a:r>
              <a:rPr lang="fa-IR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عامل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یادگیری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رفتاری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22392" y="167335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۵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57200" y="16916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رابط‌های کاربری چندکاناله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57200" y="202996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نمایشگر، وب موبایل، داشبورد و اپ HA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2606040"/>
            <a:ext cx="553212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23" name="Text 21"/>
          <p:cNvSpPr/>
          <p:nvPr/>
        </p:nvSpPr>
        <p:spPr>
          <a:xfrm>
            <a:off x="5422392" y="2752344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۶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457200" y="277063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حضور و غیاب مبتنی بر چهره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57200" y="31089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معماری سه‌لایه با صف پایا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57200" y="3685032"/>
            <a:ext cx="553212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27" name="Text 25"/>
          <p:cNvSpPr/>
          <p:nvPr/>
        </p:nvSpPr>
        <p:spPr>
          <a:xfrm>
            <a:off x="5422392" y="383133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۷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457200" y="38496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امنیت و حریم خصوصی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57200" y="418795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TLS، توکن‌ها، قواعد سخت قفل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57200" y="4764024"/>
            <a:ext cx="553212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31" name="Text 29"/>
          <p:cNvSpPr/>
          <p:nvPr/>
        </p:nvSpPr>
        <p:spPr>
          <a:xfrm>
            <a:off x="5422392" y="491032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۸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457200" y="492861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آزمون‌ها، نتایج و جمع‌بندی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57200" y="526694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۱۴ سناریوی انتهابه‌انتها + کارهای آینده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۲ / ۲۵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فصل ۱ — مقدمه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بیان مسئله: </a:t>
            </a:r>
            <a:r>
              <a:rPr lang="fa-IR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 </a:t>
            </a:r>
            <a:r>
              <a:rPr lang="en-US" sz="2900" dirty="0" err="1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سه</a:t>
            </a: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 آسیبِ معماری ابرمحور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راهکارهای تجاری رایج بر دو ستون تکیه دارند: سخت‌افزار اختصاصی متعدد و سرویس‌های ابری برای پردازش، احراز هویت و ذخیره‌سازی.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129016" y="2148840"/>
            <a:ext cx="3602736" cy="1965960"/>
          </a:xfrm>
          <a:prstGeom prst="roundRect">
            <a:avLst>
              <a:gd name="adj" fmla="val 3256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sp>
        <p:nvSpPr>
          <p:cNvPr id="6" name="Text 4"/>
          <p:cNvSpPr/>
          <p:nvPr/>
        </p:nvSpPr>
        <p:spPr>
          <a:xfrm>
            <a:off x="8357616" y="2404872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حریم خصوصی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57616" y="292608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داده‌های حساس مانند تصویر چهره ساکنان از خانه خارج و روی سرورهای غیرقابل‌کنترل نگهداری می‌شود.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2148840"/>
            <a:ext cx="3602736" cy="1965960"/>
          </a:xfrm>
          <a:prstGeom prst="roundRect">
            <a:avLst>
              <a:gd name="adj" fmla="val 3256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sp>
        <p:nvSpPr>
          <p:cNvPr id="9" name="Text 7"/>
          <p:cNvSpPr/>
          <p:nvPr/>
        </p:nvSpPr>
        <p:spPr>
          <a:xfrm>
            <a:off x="4526280" y="2404872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وابستگی به اینترنت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292608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هر قطعی اینترنت به معنای از دست رفتن کنترل و هوشمندی خانه است.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6344" y="2148840"/>
            <a:ext cx="3602736" cy="1965960"/>
          </a:xfrm>
          <a:prstGeom prst="roundRect">
            <a:avLst>
              <a:gd name="adj" fmla="val 3256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sp>
        <p:nvSpPr>
          <p:cNvPr id="12" name="Text 10"/>
          <p:cNvSpPr/>
          <p:nvPr/>
        </p:nvSpPr>
        <p:spPr>
          <a:xfrm>
            <a:off x="694944" y="2404872"/>
            <a:ext cx="3145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تاخیر شبکه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94944" y="2926080"/>
            <a:ext cx="3145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چرخه ابر برای تصمیم‌های حساس مانند بازکردن قفل با چهره قابل‌قبول نیست.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434340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علاوه بر این، بینایی ماشین به‌طور سنتی نیازمند پردازنده قدرتمند و دوربین اختصاصی است؛ هزینه، پیچیدگی نصب و مصرف انرژی بالا می‌رود.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66344" y="4983480"/>
            <a:ext cx="11274552" cy="1234440"/>
          </a:xfrm>
          <a:prstGeom prst="roundRect">
            <a:avLst>
              <a:gd name="adj" fmla="val 5185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6" name="Text 14"/>
          <p:cNvSpPr/>
          <p:nvPr/>
        </p:nvSpPr>
        <p:spPr>
          <a:xfrm>
            <a:off x="640080" y="5073611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پرسش اصلی پروژه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82350" y="5449450"/>
            <a:ext cx="988111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150000"/>
              </a:lnSpc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آیا می‌توان خانه هوشمند کامل،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امن</a:t>
            </a: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را</a:t>
            </a: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با حداقل سخت‌افزار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لبه</a:t>
            </a: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با</a:t>
            </a: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اجرای کامل هوش مصنوعی روی خود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میکروکنترلر</a:t>
            </a: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،</a:t>
            </a:r>
          </a:p>
          <a:p>
            <a:pPr marL="0" indent="0" algn="ctr" rtl="1">
              <a:lnSpc>
                <a:spcPct val="150000"/>
              </a:lnSpc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دوربین قرضی از گوشی کاربر، و بدون خروج هیچ داده‌ای از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شبکه</a:t>
            </a: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خانگی</a:t>
            </a: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fa-IR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ساخت ؟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۳ / ۲۵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فصل ۱ — مقدمه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پاسخ پروژه: همه هوشمندی روی لبه، همه داده در خانه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21208" y="1709928"/>
            <a:ext cx="6044184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pic>
        <p:nvPicPr>
          <p:cNvPr id="5" name="Image 0" descr="D:/Project/Smart-Home/report/figs/fig7_block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080"/>
            <a:ext cx="589788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83112" y="181051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۱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58000" y="182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تشخیص چهره کامل روی ESP32-S3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856376" y="2167128"/>
            <a:ext cx="31621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 rtl="1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از رمزگشایی JPEG </a:t>
            </a:r>
            <a:r>
              <a:rPr lang="fa-IR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0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تا</a:t>
            </a: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تطبیق </a:t>
            </a:r>
            <a:r>
              <a:rPr lang="en-US" sz="120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بردار</a:t>
            </a: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0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ویژگی</a:t>
            </a:r>
            <a:r>
              <a:rPr lang="fa-IR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، </a:t>
            </a:r>
            <a:r>
              <a:rPr lang="en-US" sz="120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تصویر</a:t>
            </a: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هرگز از برد خارج نمی‌شود.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183112" y="28346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۲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858000" y="285292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گوشی کاربر = سنسور و رابط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856376" y="3191256"/>
            <a:ext cx="316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دوربین و مرورگر گوشی از طریق QR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روی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نمایشگر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بدون ماژول دوربین اختصاصی.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183112" y="385876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۳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858000" y="3877056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زیرساخت لوکال با Docker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7613780" y="4215384"/>
            <a:ext cx="3404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Mosquitto</a:t>
            </a:r>
            <a:r>
              <a:rPr lang="fa-IR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و Home Assistant </a:t>
            </a:r>
            <a:r>
              <a:rPr lang="fa-IR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روی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سرور خانگی؛ فقط مودم، بدون سرویس ابری.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183112" y="488289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۴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858000" y="490118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چهار کانال تعامل موازی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856376" y="5239512"/>
            <a:ext cx="316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نمایشگر لمسی، وب موبایل،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داشبورد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HA</a:t>
            </a:r>
            <a:r>
              <a:rPr lang="fa-IR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و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اپ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HA</a:t>
            </a:r>
          </a:p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با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یک منبع واحد وضعیت.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۴ / ۲۵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فصل ۱ — مقدمه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اهداف پروژه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164824" y="162763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۱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199632" y="16459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گره</a:t>
            </a:r>
            <a:r>
              <a:rPr lang="en-US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IoT</a:t>
            </a:r>
            <a:r>
              <a:rPr lang="fa-IR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50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با</a:t>
            </a:r>
            <a:r>
              <a:rPr lang="en-US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ESP32-S3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99632" y="197510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نمایشگر لمسی رنگی، وب‌سرور امن HTTPS </a:t>
            </a:r>
            <a:r>
              <a:rPr lang="fa-IR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داخلی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و اتصال پایدار به شبکه خانگی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22392" y="162763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۲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چهره کامل روی میکروکنترلر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975104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رمزگشایی، آشکارسازی، استخراج بردار ویژگی و تطبیق — بدون ارسال تصویر به بیرون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164824" y="274320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۳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199632" y="27614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دوربین قرضی از گوشی کاربر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199632" y="309067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ورودی تصویری با صفحه وب موبایل و مکانیزم QR به‌جای ماژول دوربین اختصاصی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22392" y="274320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۴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57200" y="2761488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زیرساخت لوکال با کشف خودکار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3090672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Mosquitto + Home Assistant با Docker و یکپارچه‌سازی Discovery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164824" y="385876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۵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199632" y="387705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رابط کاربری چندکاناله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199632" y="420624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چهار کانال موازی، همه با یک منبع واحد وضعیت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22392" y="385876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۶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57200" y="387705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عامل یادگیری رفتاری سبک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420624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کنترل روشنایی و فن با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پیش‌آموزش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آفلاین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+ </a:t>
            </a:r>
            <a:r>
              <a:rPr lang="fa-IR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یادگیری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برخط روی تراشه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164824" y="497433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۷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6199632" y="49926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حضور و غیاب مبتنی بر چهره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99632" y="532180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سرور لوکال، صف پیام پایا،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آرشیو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fa-IR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تاریخ‌های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شمسی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و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اطلاع‌رسانی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fa-IR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پیامرسان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بله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22392" y="497433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۸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457200" y="4992624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پایداری و آزمون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5321808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سگ‌نگهبان، اتصال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مجدد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شبکه</a:t>
            </a: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‌ و آزمون سناریومحور انتهابه‌انتها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۵ / ۲۵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فصل ۱ — مقدمه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نوآوری‌ها و ویژگی‌های متمایز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585448" y="17373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9962E"/>
          </a:solidFill>
          <a:ln w="12700">
            <a:solidFill>
              <a:srgbClr val="C9962E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7754112" y="16276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پردازش هوش مصنوعی روی دستگاه کم‌توان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7114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کل زنجیره تشخیص چهره از رمزگشایی JPEG سخت‌افزاری تا استخراج بردار ویژگی، روی میکروکنترلر اجرا می‌شود — حریم خصوصی کامل و تاخیر تقریباً صفر.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112745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8" name="Shape 6"/>
          <p:cNvSpPr/>
          <p:nvPr/>
        </p:nvSpPr>
        <p:spPr>
          <a:xfrm>
            <a:off x="11585448" y="2523744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9962E"/>
          </a:solidFill>
          <a:ln w="12700">
            <a:solidFill>
              <a:srgbClr val="C9962E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9" name="Text 7"/>
          <p:cNvSpPr/>
          <p:nvPr/>
        </p:nvSpPr>
        <p:spPr>
          <a:xfrm>
            <a:off x="7754112" y="241401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هویت‌سنجی با سخت‌افزار موجود کاربر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414016"/>
            <a:ext cx="7114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دوربین و مرورگر گوشی به‌عنوان سنسور تصویری؛ سخت‌افزار لبه به حداقل می‌رسد.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90672"/>
            <a:ext cx="112745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2" name="Shape 10"/>
          <p:cNvSpPr/>
          <p:nvPr/>
        </p:nvSpPr>
        <p:spPr>
          <a:xfrm>
            <a:off x="11585448" y="3310128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9962E"/>
          </a:solidFill>
          <a:ln w="12700">
            <a:solidFill>
              <a:srgbClr val="C9962E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3" name="Text 11"/>
          <p:cNvSpPr/>
          <p:nvPr/>
        </p:nvSpPr>
        <p:spPr>
          <a:xfrm>
            <a:off x="7754112" y="3200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استقلال کامل از فضای ابری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7114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کارکرد کامل در قطعی اینترنت بین‌المللی و حتی داخلی؛ داده در شبکه محلی می‌ماند.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877056"/>
            <a:ext cx="112745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6" name="Shape 14"/>
          <p:cNvSpPr/>
          <p:nvPr/>
        </p:nvSpPr>
        <p:spPr>
          <a:xfrm>
            <a:off x="11585448" y="409651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9962E"/>
          </a:solidFill>
          <a:ln w="12700">
            <a:solidFill>
              <a:srgbClr val="C9962E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7" name="Text 15"/>
          <p:cNvSpPr/>
          <p:nvPr/>
        </p:nvSpPr>
        <p:spPr>
          <a:xfrm>
            <a:off x="7754112" y="398678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یادگیری رفتاری روی تراشه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3986784"/>
            <a:ext cx="7114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پیش‌آموزش آفلاین + به‌روزرسانی برخط SGD؛ چرخه سایه → خودکار؛ قفل در هرگز تحت کنترل مدل نیست.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663440"/>
            <a:ext cx="112745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20" name="Shape 18"/>
          <p:cNvSpPr/>
          <p:nvPr/>
        </p:nvSpPr>
        <p:spPr>
          <a:xfrm>
            <a:off x="11585448" y="4882896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9962E"/>
          </a:solidFill>
          <a:ln w="12700">
            <a:solidFill>
              <a:srgbClr val="C9962E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21" name="Text 19"/>
          <p:cNvSpPr/>
          <p:nvPr/>
        </p:nvSpPr>
        <p:spPr>
          <a:xfrm>
            <a:off x="7754112" y="47731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اکوسیستم حضور و غیاب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4773168"/>
            <a:ext cx="7114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سه‌لایه با صف پایا روی برد، سرور FastAPI/SQLite، شیت شمسی و اعلان بله — مستقل از HA.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5449824"/>
            <a:ext cx="112745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24" name="Shape 22"/>
          <p:cNvSpPr/>
          <p:nvPr/>
        </p:nvSpPr>
        <p:spPr>
          <a:xfrm>
            <a:off x="11585448" y="56692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C9962E"/>
          </a:solidFill>
          <a:ln w="12700">
            <a:solidFill>
              <a:srgbClr val="C9962E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25" name="Text 23"/>
          <p:cNvSpPr/>
          <p:nvPr/>
        </p:nvSpPr>
        <p:spPr>
          <a:xfrm>
            <a:off x="7754112" y="55595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تمرین جامع مهندسی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" y="5559552"/>
            <a:ext cx="7114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الکترونیک، معماری، سیستم‌عامل، شبکه، امنیت، UI/UX و مهندسی نرم‌افزار در یک کار واقعی.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۶ / ۲۵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فصل ۲ — مبانی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فناوری‌های به‌کاررفته در یک نگاه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66928" y="1709928"/>
            <a:ext cx="5495544" cy="3959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pic>
        <p:nvPicPr>
          <p:cNvPr id="5" name="Image 0" descr="D:/Project/Smart-Home/report/figs/fig6_s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5349240" cy="3813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742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منبع: گزارش پروژه — شکل ۴-۱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9116568" y="1874520"/>
            <a:ext cx="2514600" cy="512064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8" name="Text 5"/>
          <p:cNvSpPr/>
          <p:nvPr/>
        </p:nvSpPr>
        <p:spPr>
          <a:xfrm>
            <a:off x="9116568" y="187452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ESP32-S3 (N16R8)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0" y="1874520"/>
            <a:ext cx="2514600" cy="512064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0" name="Text 7"/>
          <p:cNvSpPr/>
          <p:nvPr/>
        </p:nvSpPr>
        <p:spPr>
          <a:xfrm>
            <a:off x="6400800" y="187452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ESP-IDF 6 + FreeRTOS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16568" y="2569464"/>
            <a:ext cx="2514600" cy="512064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2" name="Text 9"/>
          <p:cNvSpPr/>
          <p:nvPr/>
        </p:nvSpPr>
        <p:spPr>
          <a:xfrm>
            <a:off x="9116568" y="256946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LVGL 9.5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00800" y="2569464"/>
            <a:ext cx="2514600" cy="512064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4" name="Text 11"/>
          <p:cNvSpPr/>
          <p:nvPr/>
        </p:nvSpPr>
        <p:spPr>
          <a:xfrm>
            <a:off x="6400800" y="256946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ESP-DL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16568" y="3264408"/>
            <a:ext cx="2514600" cy="512064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6" name="Text 13"/>
          <p:cNvSpPr/>
          <p:nvPr/>
        </p:nvSpPr>
        <p:spPr>
          <a:xfrm>
            <a:off x="9116568" y="326440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MQTT 3.1.1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0" y="3264408"/>
            <a:ext cx="2514600" cy="512064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8" name="Text 15"/>
          <p:cNvSpPr/>
          <p:nvPr/>
        </p:nvSpPr>
        <p:spPr>
          <a:xfrm>
            <a:off x="6400800" y="326440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Mosquitto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116568" y="3959352"/>
            <a:ext cx="2514600" cy="512064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20" name="Text 17"/>
          <p:cNvSpPr/>
          <p:nvPr/>
        </p:nvSpPr>
        <p:spPr>
          <a:xfrm>
            <a:off x="9116568" y="395935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Home Assistant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0" y="3959352"/>
            <a:ext cx="2514600" cy="512064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22" name="Text 19"/>
          <p:cNvSpPr/>
          <p:nvPr/>
        </p:nvSpPr>
        <p:spPr>
          <a:xfrm>
            <a:off x="6400800" y="395935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Docker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116568" y="4654296"/>
            <a:ext cx="2514600" cy="512064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24" name="Text 21"/>
          <p:cNvSpPr/>
          <p:nvPr/>
        </p:nvSpPr>
        <p:spPr>
          <a:xfrm>
            <a:off x="9116568" y="4654296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HTTPS / TLS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00800" y="4654296"/>
            <a:ext cx="2514600" cy="512064"/>
          </a:xfrm>
          <a:prstGeom prst="roundRect">
            <a:avLst>
              <a:gd name="adj" fmla="val 125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26" name="Text 23"/>
          <p:cNvSpPr/>
          <p:nvPr/>
        </p:nvSpPr>
        <p:spPr>
          <a:xfrm>
            <a:off x="6400800" y="4654296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FastAPI + SQLite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355080" y="512064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3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ستون زیرساخت: کانتینرهای Docker روی سرور خانگی؛ ستون لبه: FreeRTOS چندهسته‌ای با LVGL، وب‌سرور TLS و مدل‌های ESP-DL روی یک تراشه.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۷ / ۲۵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فصل ۴ — طراحی سخت‌افزار و فریمور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سخت‌افزار لبه و ساختار فریمور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199632" y="1645920"/>
            <a:ext cx="5532120" cy="4343400"/>
          </a:xfrm>
          <a:prstGeom prst="roundRect">
            <a:avLst>
              <a:gd name="adj" fmla="val 1474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6473952" y="184708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سخت‌افزار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73952" y="2377440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برد ESP32-S3-DevKitC-1 با ماژول WROOM-1-N16R8: ۱۶MB فلش + ۸MB PSRAM اکتال (۸۰MHz)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73952" y="3090672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هسته دوگانه Xtensa LX7 تا ۲۴۰MHz با دستورالعمل‌های برداری شتاب‌دهی ML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73952" y="3803904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نمایشگر ST7796 با رزولوشن ۳۲۰×۴۸۰ (رابط موازی ۸ بیتی) + کنترلر لمس GT911 روی I2C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73952" y="4517136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سنسور محیطی BME280: دما، رطوبت و فشار روی I2C مشترک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73952" y="5230368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رله قفل در با بازقفل خودکار ایمن ۸ ثانیه‌ای + چراغ و دکمه فیزیکی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5532120" cy="4343400"/>
          </a:xfrm>
          <a:prstGeom prst="roundRect">
            <a:avLst>
              <a:gd name="adj" fmla="val 1474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2" name="Text 10"/>
          <p:cNvSpPr/>
          <p:nvPr/>
        </p:nvSpPr>
        <p:spPr>
          <a:xfrm>
            <a:off x="731520" y="184708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فریمور (ESP-IDF + FreeRTOS)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2377440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پارتیشن‌بندی اختصاصی فلش: برنامه، NVS </a:t>
            </a:r>
            <a:r>
              <a:rPr lang="fa-IR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و SPIFFS </a:t>
            </a:r>
            <a:r>
              <a:rPr lang="fa-IR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پایگاه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چهره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3090672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وظایف چندهسته‌ای با اولویت و پشته مستقل: رابط گرافیکی، پردازش چهره، شبکه، عامل یادگیری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3803904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همگام‌سازی با صف‌های کم‌عمق (مثلاً صف تصویر چهره با عمق ۱) به‌جای اشتراک مستقیم حافظه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4517136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سگ‌نگهبان وظایف (TWDT) + سگ‌نگهبان لمس با ریست سخت‌افزاری (RST/INT)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5230368"/>
            <a:ext cx="4983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پایش دوره‌ای حافظه (هر ۳۰ ثانیه) به‌عنوان زنگ هشدار شکستگی حافظه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10819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نکته پین‌گذاری: GPIO35 تا GPIO37 به دلیل PSRAM اکتال قابل استفاده نیستند.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۸ / ۲۵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فصل ۵ — معماری ارتباطی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زیرساخت کاملاً لوکال: MQTT و Home Assistant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21208" y="1709928"/>
            <a:ext cx="6181344" cy="4050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pic>
        <p:nvPicPr>
          <p:cNvPr id="5" name="Image 0" descr="D:/Project/Smart-Home/report/figs/fig1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080"/>
            <a:ext cx="6035040" cy="3904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منبع: گزارش پروژه — شکل ۵-۱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83112" y="181051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۱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90372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MQTT: انتشار/اشتراک با کارگزار مرکزی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903720" y="21671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QoS=1 برای وضعیت، پیام‌های Retained و وصیت‌نامه LWT برای تشخیص قطعی برد.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183112" y="28346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۲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903720" y="28529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کشف خودکار (MQTT Discovery)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903720" y="319125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۱۳ موجودیت بدون پیکربندی دستی در Home Assistant ثبت می‌شوند.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183112" y="385876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۳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903720" y="387705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استقرار با Docker روی سرور خانگی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903720" y="421538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Mosquitto + Home Assistant (+ سرور حضور و غیاب) — انتقال‌پذیر و بدون ابر.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1183112" y="488289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۴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903720" y="49011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کارکرد فقط با مودم خانگی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903720" y="52395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در قطعی اینترنت بین‌المللی و داخلی بی‌وقفه کار می‌کند؛ تاخیر حداقلی.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۹ / ۲۵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0"/>
            <a:ext cx="1145743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dirty="0">
                <a:solidFill>
                  <a:srgbClr val="1D3350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EDGE     AI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914400" y="703524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400" dirty="0">
                <a:solidFill>
                  <a:srgbClr val="FFFFF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هوش مصنوعی روی لبه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دو </a:t>
            </a:r>
            <a:r>
              <a:rPr lang="en-US" sz="1600" dirty="0" err="1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موتور</a:t>
            </a:r>
            <a:r>
              <a:rPr lang="en-US" sz="1600" dirty="0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600" dirty="0" err="1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هوشمند</a:t>
            </a:r>
            <a:r>
              <a:rPr lang="en-US" sz="1600" dirty="0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، هر دو روی یک میکروکنترلر کم‌توان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23076" y="434340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1D3350"/>
          </a:solidFill>
          <a:ln w="12700">
            <a:solidFill>
              <a:srgbClr val="2E4A6E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7" name="Text 5"/>
          <p:cNvSpPr/>
          <p:nvPr/>
        </p:nvSpPr>
        <p:spPr>
          <a:xfrm>
            <a:off x="6597396" y="45445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50" b="1" dirty="0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۱ — تشخیص چهره روی میکروکنترلر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597396" y="5029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خط پردازش کامل بینایی ماشین با ESP-DL؛ احراز هویت بدون ابر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36676" y="434340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1D3350"/>
          </a:solidFill>
          <a:ln w="12700">
            <a:solidFill>
              <a:srgbClr val="2E4A6E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0" name="Text 8"/>
          <p:cNvSpPr/>
          <p:nvPr/>
        </p:nvSpPr>
        <p:spPr>
          <a:xfrm>
            <a:off x="1110996" y="45445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650" b="1" dirty="0">
                <a:solidFill>
                  <a:srgbClr val="FFFFF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۲ — عامل یادگیری رفتاری روی تراشه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10996" y="50292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دو رگرسیون لجستیک؛ پیش‌آموزش آفلاین + یادگیری برخط SGD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۱۰ / ۲۵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هوش مصنوعی روی لبه — ۱) تشخیص چهره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خط پردازش کامل تشخیص چهره روی میکروکنترلر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906524" y="1371600"/>
            <a:ext cx="8375904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pic>
        <p:nvPicPr>
          <p:cNvPr id="5" name="Image 0" descr="D:/Project/Smart-Home/report/figs/fig2_face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676" y="1444752"/>
            <a:ext cx="8229600" cy="3858768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0480964-BCC6-06DE-E968-73AE2DDD320A}"/>
              </a:ext>
            </a:extLst>
          </p:cNvPr>
          <p:cNvGrpSpPr/>
          <p:nvPr/>
        </p:nvGrpSpPr>
        <p:grpSpPr>
          <a:xfrm>
            <a:off x="4600480" y="5386016"/>
            <a:ext cx="2819456" cy="1144496"/>
            <a:chOff x="4005072" y="5830599"/>
            <a:chExt cx="3749040" cy="698217"/>
          </a:xfrm>
        </p:grpSpPr>
        <p:sp>
          <p:nvSpPr>
            <p:cNvPr id="9" name="Shape 6"/>
            <p:cNvSpPr/>
            <p:nvPr/>
          </p:nvSpPr>
          <p:spPr>
            <a:xfrm>
              <a:off x="4005072" y="5870448"/>
              <a:ext cx="3749040" cy="658368"/>
            </a:xfrm>
            <a:prstGeom prst="roundRect">
              <a:avLst>
                <a:gd name="adj" fmla="val 9722"/>
              </a:avLst>
            </a:prstGeom>
            <a:solidFill>
              <a:srgbClr val="EAF0F7"/>
            </a:solidFill>
            <a:ln w="12700">
              <a:solidFill>
                <a:srgbClr val="EAF0F7"/>
              </a:solidFill>
              <a:prstDash val="solid"/>
            </a:ln>
          </p:spPr>
          <p:txBody>
            <a:bodyPr/>
            <a:lstStyle/>
            <a:p>
              <a:endParaRPr lang="fa-IR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4194273" y="5830599"/>
              <a:ext cx="34747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rtl="1">
                <a:lnSpc>
                  <a:spcPct val="250000"/>
                </a:lnSpc>
              </a:pPr>
              <a:r>
                <a:rPr lang="fa-IR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‫بافرهای بزرگ در </a:t>
              </a:r>
              <a:r>
                <a:rPr lang="en-US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PSRAM</a:t>
              </a:r>
              <a:endParaRPr lang="fa-IR" sz="13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endParaRPr>
            </a:p>
            <a:p>
              <a:pPr algn="ctr" rtl="1">
                <a:lnSpc>
                  <a:spcPct val="250000"/>
                </a:lnSpc>
              </a:pPr>
              <a:r>
                <a:rPr lang="fa-IR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تا حافظه داخلی برای </a:t>
              </a:r>
              <a:r>
                <a:rPr lang="en-US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 TLS </a:t>
              </a:r>
              <a:r>
                <a:rPr lang="fa-IR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آزاد بماند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8930DF1-A1EA-4FD2-0667-1129921FB668}"/>
              </a:ext>
            </a:extLst>
          </p:cNvPr>
          <p:cNvGrpSpPr/>
          <p:nvPr/>
        </p:nvGrpSpPr>
        <p:grpSpPr>
          <a:xfrm>
            <a:off x="7527004" y="5449640"/>
            <a:ext cx="2755423" cy="1079175"/>
            <a:chOff x="7982712" y="5870448"/>
            <a:chExt cx="3749040" cy="658368"/>
          </a:xfrm>
        </p:grpSpPr>
        <p:sp>
          <p:nvSpPr>
            <p:cNvPr id="7" name="Shape 4"/>
            <p:cNvSpPr/>
            <p:nvPr/>
          </p:nvSpPr>
          <p:spPr>
            <a:xfrm>
              <a:off x="7982712" y="5870448"/>
              <a:ext cx="3749040" cy="658368"/>
            </a:xfrm>
            <a:prstGeom prst="roundRect">
              <a:avLst>
                <a:gd name="adj" fmla="val 9722"/>
              </a:avLst>
            </a:prstGeom>
            <a:solidFill>
              <a:srgbClr val="EAF0F7"/>
            </a:solidFill>
            <a:ln w="12700">
              <a:solidFill>
                <a:srgbClr val="EAF0F7"/>
              </a:solidFill>
              <a:prstDash val="solid"/>
            </a:ln>
          </p:spPr>
          <p:txBody>
            <a:bodyPr/>
            <a:lstStyle/>
            <a:p>
              <a:endParaRPr lang="fa-IR"/>
            </a:p>
          </p:txBody>
        </p:sp>
        <p:sp>
          <p:nvSpPr>
            <p:cNvPr id="8" name="Text 5"/>
            <p:cNvSpPr/>
            <p:nvPr/>
          </p:nvSpPr>
          <p:spPr>
            <a:xfrm>
              <a:off x="8119872" y="5870448"/>
              <a:ext cx="34747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lnSpc>
                  <a:spcPct val="150000"/>
                </a:lnSpc>
                <a:buNone/>
              </a:pPr>
              <a:r>
                <a:rPr lang="en-US" sz="1300" b="1" dirty="0" err="1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صف</a:t>
              </a:r>
              <a:r>
                <a:rPr lang="en-US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 </a:t>
              </a:r>
              <a:r>
                <a:rPr lang="en-US" sz="1300" b="1" dirty="0" err="1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ورودی</a:t>
              </a:r>
              <a:r>
                <a:rPr lang="fa-IR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 به</a:t>
              </a:r>
              <a:r>
                <a:rPr lang="en-US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 </a:t>
              </a:r>
              <a:r>
                <a:rPr lang="en-US" sz="1300" b="1" dirty="0" err="1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عمق</a:t>
              </a:r>
              <a:r>
                <a:rPr lang="en-US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 ۱</a:t>
              </a:r>
            </a:p>
            <a:p>
              <a:pPr marL="0" indent="0" algn="ctr" rtl="1">
                <a:lnSpc>
                  <a:spcPct val="150000"/>
                </a:lnSpc>
                <a:buNone/>
              </a:pPr>
              <a:r>
                <a:rPr lang="en-US" sz="1300" b="1" dirty="0" err="1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پردازش</a:t>
              </a:r>
              <a:r>
                <a:rPr lang="en-US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 </a:t>
              </a:r>
              <a:r>
                <a:rPr lang="en-US" sz="1300" b="1" dirty="0" err="1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سری‌شده</a:t>
              </a:r>
              <a:endParaRPr lang="en-US" sz="13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endParaRPr>
            </a:p>
            <a:p>
              <a:pPr marL="0" indent="0" algn="ctr" rtl="1">
                <a:lnSpc>
                  <a:spcPct val="150000"/>
                </a:lnSpc>
                <a:buNone/>
              </a:pPr>
              <a:r>
                <a:rPr lang="en-US" sz="1300" b="1" dirty="0" err="1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بدون</a:t>
              </a:r>
              <a:r>
                <a:rPr lang="en-US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 تداخل حافظه</a:t>
              </a:r>
              <a:endParaRPr lang="en-US" sz="1300" b="1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A205148-93C1-09E4-8404-BDF473D05762}"/>
              </a:ext>
            </a:extLst>
          </p:cNvPr>
          <p:cNvGrpSpPr/>
          <p:nvPr/>
        </p:nvGrpSpPr>
        <p:grpSpPr>
          <a:xfrm>
            <a:off x="1901952" y="5449641"/>
            <a:ext cx="2596478" cy="1079175"/>
            <a:chOff x="27432" y="5870448"/>
            <a:chExt cx="3749040" cy="658368"/>
          </a:xfrm>
        </p:grpSpPr>
        <p:sp>
          <p:nvSpPr>
            <p:cNvPr id="11" name="Shape 8"/>
            <p:cNvSpPr/>
            <p:nvPr/>
          </p:nvSpPr>
          <p:spPr>
            <a:xfrm>
              <a:off x="27432" y="5870448"/>
              <a:ext cx="3749040" cy="658368"/>
            </a:xfrm>
            <a:prstGeom prst="roundRect">
              <a:avLst>
                <a:gd name="adj" fmla="val 9722"/>
              </a:avLst>
            </a:prstGeom>
            <a:solidFill>
              <a:srgbClr val="EAF0F7"/>
            </a:solidFill>
            <a:ln w="12700">
              <a:solidFill>
                <a:srgbClr val="EAF0F7"/>
              </a:solidFill>
              <a:prstDash val="solid"/>
            </a:ln>
          </p:spPr>
          <p:txBody>
            <a:bodyPr/>
            <a:lstStyle/>
            <a:p>
              <a:endParaRPr lang="fa-IR"/>
            </a:p>
          </p:txBody>
        </p:sp>
        <p:sp>
          <p:nvSpPr>
            <p:cNvPr id="12" name="Text 9"/>
            <p:cNvSpPr/>
            <p:nvPr/>
          </p:nvSpPr>
          <p:spPr>
            <a:xfrm>
              <a:off x="164592" y="5870448"/>
              <a:ext cx="3474720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lnSpc>
                  <a:spcPct val="150000"/>
                </a:lnSpc>
                <a:buNone/>
              </a:pPr>
              <a:r>
                <a:rPr lang="en-US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تحویل غیرمسدودکننده </a:t>
              </a:r>
              <a:r>
                <a:rPr lang="en-US" sz="1300" b="1" dirty="0" err="1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با</a:t>
              </a:r>
              <a:r>
                <a:rPr lang="en-US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 </a:t>
              </a:r>
              <a:r>
                <a:rPr lang="en-US" sz="1300" b="1" dirty="0" err="1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وظیفه</a:t>
              </a:r>
              <a:r>
                <a:rPr lang="en-US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 </a:t>
              </a:r>
              <a:r>
                <a:rPr lang="en-US" sz="1300" b="1" dirty="0" err="1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face_worker</a:t>
              </a:r>
              <a:endParaRPr lang="en-US" sz="13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endParaRPr>
            </a:p>
            <a:p>
              <a:pPr marL="0" indent="0" algn="ctr" rtl="1">
                <a:lnSpc>
                  <a:spcPct val="150000"/>
                </a:lnSpc>
                <a:buNone/>
              </a:pPr>
              <a:r>
                <a:rPr lang="fa-IR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برای اینکه</a:t>
              </a:r>
              <a:r>
                <a:rPr lang="en-US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 UI </a:t>
              </a:r>
              <a:r>
                <a:rPr lang="en-US" sz="1300" b="1" dirty="0" err="1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پاسخ‌گو</a:t>
              </a:r>
              <a:r>
                <a:rPr lang="en-US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 </a:t>
              </a:r>
              <a:r>
                <a:rPr lang="fa-IR" sz="1300" b="1" dirty="0">
                  <a:solidFill>
                    <a:srgbClr val="1E3A5F"/>
                  </a:solidFill>
                  <a:latin typeface="Sahel" pitchFamily="34" charset="0"/>
                  <a:ea typeface="Sahel" pitchFamily="34" charset="-122"/>
                  <a:cs typeface="Sahel" pitchFamily="34" charset="-120"/>
                </a:rPr>
                <a:t>بماند</a:t>
              </a:r>
              <a:endParaRPr lang="en-US" sz="1300" b="1" dirty="0"/>
            </a:p>
          </p:txBody>
        </p:sp>
      </p:grpSp>
      <p:sp>
        <p:nvSpPr>
          <p:cNvPr id="13" name="Text 10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۱۱ / ۲۵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هوش مصنوعی روی لبه — ۱) تشخیص چهره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ثبت‌چهره چندنمونه‌ای و آستانه تصمیم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183112" y="176479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۱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60720" y="17830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صدور لینک توسط مدیر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760720" y="213055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از بخش تنظیمات (محافظت‌شده با رمز و نشست ۱۰ دقیقه‌ای)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183112" y="2843784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۲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760720" y="2862072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توکن شش‌رقمی با اعتبار ۳ دقیقه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760720" y="3209544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لینک https://IP/enroll?token=… — توکن چندمصرف تا پایان اعتبار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183112" y="392277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۳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760720" y="3941064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ثبت چند نمونه از صفحه وب موبایل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760720" y="4288536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POST /api/face/enroll — نمونه‌ها با زاویه و نور متفاوت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183112" y="500176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۴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760720" y="5020056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گروه‌بندی زیر یک نام در پایگاه چهره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760720" y="536752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لایه face_db با شمارنده نمونه‌ها در پارتیشن SPIFFS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1783080"/>
            <a:ext cx="4892040" cy="2377440"/>
          </a:xfrm>
          <a:prstGeom prst="roundRect">
            <a:avLst>
              <a:gd name="adj" fmla="val 2692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7" name="Text 15"/>
          <p:cNvSpPr/>
          <p:nvPr/>
        </p:nvSpPr>
        <p:spPr>
          <a:xfrm>
            <a:off x="731520" y="199339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چرا آستانه ۰٫۷۰؟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" y="2468880"/>
            <a:ext cx="4343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مقدار آستانه پس از آزمون‌های عملی با ثبت چندنمونه‌ای نگه داشته شد؛ ثبت چندنمونه‌ای دقت تطبیق در حالات نور و زاویه مختلف را به‌طور محسوس بهبود داد و کالیبراسیون بیشتر عمداً به نسخه‌های بعد موکول شد.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4892040" cy="1691640"/>
          </a:xfrm>
          <a:prstGeom prst="roundRect">
            <a:avLst>
              <a:gd name="adj" fmla="val 3784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20" name="Text 18"/>
          <p:cNvSpPr/>
          <p:nvPr/>
        </p:nvSpPr>
        <p:spPr>
          <a:xfrm>
            <a:off x="731520" y="45262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تصمیم‌های مهندسی خط پردازش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4937760"/>
            <a:ext cx="4343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صف عمق ۱ برای پایداری مدل‌ها، جای‌گذاری بافرها در PSRAM و خروجی غیرمسدودکننده وب‌سرور — همگی برای حفظ پاسخ‌گویی رابط گرافیکی روی یک تراشه.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۱۲ / ۲۵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هوش مصنوعی روی لبه — ۲) عامل یادگیری رفتاری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6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صورت‌بندی مدل: دو رگرسیون لجستیک با ویژگی فقط-زمینه‌ای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149871"/>
              </p:ext>
            </p:extLst>
          </p:nvPr>
        </p:nvGraphicFramePr>
        <p:xfrm>
          <a:off x="5257800" y="1783080"/>
          <a:ext cx="6492240" cy="2852928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توضیح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تعداد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گروه ویژگی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جمله ثابت مدل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۱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بایاس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sin/cos سه همساز برای پوشش الگوی روزانه بدون گسست نیمه‌شب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۶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همسازهای ساعتی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پنج‌شنبه و جمعه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charset="0"/>
                          <a:cs typeface="Sahel" pitchFamily="34" charset="-120"/>
                        </a:rPr>
                        <a:t>۱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تعطیلات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HOME پس از هر </a:t>
                      </a:r>
                      <a:r>
                        <a:rPr lang="en-US" sz="1200" dirty="0" err="1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بازکردن</a:t>
                      </a: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موفق</a:t>
                      </a: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حداقل</a:t>
                      </a: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 ۴۵ </a:t>
                      </a:r>
                      <a:r>
                        <a:rPr lang="en-US" sz="1200" dirty="0" err="1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دقیقه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۱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حضور ساکن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شدت نور نرمال‌شده، دما و رطوبت نرمال‌شده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fa-IR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charset="0"/>
                          <a:cs typeface="Sahel" pitchFamily="34" charset="-120"/>
                        </a:rPr>
                        <a:t>۳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زمینه محیطی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257800" y="4892040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جدول ۶-۱ گزارش: بردار ویژگی ۱۲بعدی «فقط-زمینه‌ای» — بدون ویژگی وضعیت خود دستگاه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19385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0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مدل</a:t>
            </a:r>
            <a:r>
              <a:rPr lang="en-US" sz="14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40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تصمیم</a:t>
            </a:r>
            <a:r>
              <a:rPr lang="en-US" sz="14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) </a:t>
            </a:r>
            <a:r>
              <a:rPr lang="en-US" sz="140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هر</a:t>
            </a:r>
            <a:r>
              <a:rPr lang="en-US" sz="14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دستگاه یک </a:t>
            </a:r>
            <a:r>
              <a:rPr lang="en-US" sz="140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نورون</a:t>
            </a:r>
            <a:r>
              <a:rPr lang="en-US" sz="14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40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سیگموئید</a:t>
            </a:r>
            <a:r>
              <a:rPr lang="en-US" sz="14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(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37744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z = wᵀx ,   p = σ(z) = 1 / (1 + e⁻ᶻ)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p ≥ 0.75 → ON ,   p ≤ 0.25 → OFF</a:t>
            </a:r>
            <a:endParaRPr lang="en-US" sz="1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0.25 &lt; p &lt; 0.75 → hold (no action)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4297680"/>
            <a:ext cx="4480560" cy="1920240"/>
          </a:xfrm>
          <a:prstGeom prst="roundRect">
            <a:avLst>
              <a:gd name="adj" fmla="val 3333"/>
            </a:avLst>
          </a:prstGeom>
          <a:solidFill>
            <a:srgbClr val="FBF4E4"/>
          </a:solidFill>
          <a:ln w="12700">
            <a:solidFill>
              <a:srgbClr val="FBF4E4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0" name="Text 7"/>
          <p:cNvSpPr/>
          <p:nvPr/>
        </p:nvSpPr>
        <p:spPr>
          <a:xfrm>
            <a:off x="685800" y="44622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5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درس مهندسی: </a:t>
            </a:r>
            <a:r>
              <a:rPr lang="en-US" sz="1450" b="1" dirty="0" err="1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رفتار</a:t>
            </a:r>
            <a:r>
              <a:rPr lang="en-US" sz="145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fa-IR" sz="145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لختی وار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85800" y="486460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ویژگی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وضعیت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خود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دستگاه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در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نسخه نخست، مدل را با وجود دقت ۹۱٪ در حالت خودکار منفعل کرده بود؛ حذف آن و افزودن همساز سوم، دقت را به ۹۴٪ رساند و رفتار را فعال کرد.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۱۳ / ۲۵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هوش مصنوعی روی لبه — ۲) عامل یادگیری رفتاری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معماری مدل، فرمول‌ها و قواعد تصمیم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112264" y="1408176"/>
            <a:ext cx="7964424" cy="5193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pic>
        <p:nvPicPr>
          <p:cNvPr id="5" name="Image 0" descr="D:/Project/Smart-Home/report/figs/fig_ml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16" y="1481328"/>
            <a:ext cx="7818120" cy="5047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۱۴ / ۲۵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هوش مصنوعی روی لبه — ۲) عامل یادگیری رفتاری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آموزش ترکیبی: پیش‌آموزش آفلاین + یادگیری برخط</a:t>
            </a:r>
            <a:endParaRPr lang="en-US" sz="2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7753422"/>
              </p:ext>
            </p:extLst>
          </p:nvPr>
        </p:nvGraphicFramePr>
        <p:xfrm>
          <a:off x="5989320" y="1737360"/>
          <a:ext cx="5760720" cy="452628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مقدار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پارامتر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۳۰ روز، ۸۶۴۰ </a:t>
                      </a:r>
                      <a:r>
                        <a:rPr lang="en-US" sz="1200" dirty="0" err="1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نمونه</a:t>
                      </a: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 -</a:t>
                      </a:r>
                      <a:r>
                        <a:rPr lang="fa-IR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گام</a:t>
                      </a: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 ۵ </a:t>
                      </a:r>
                      <a:r>
                        <a:rPr lang="en-US" sz="1200" dirty="0" err="1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دقیقه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دیتاست پیش‌آموزش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گرادیان کامل، ۱۵۰۰ تکرار، با L2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بهینه‌سازی آفلاین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۶ روز پایانی داده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اعتبارسنجی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SGD با نرخ ۰٫۰۸، </a:t>
                      </a:r>
                      <a:r>
                        <a:rPr lang="en-US" sz="1200" dirty="0" err="1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محدودسازی</a:t>
                      </a: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وز</a:t>
                      </a:r>
                      <a:r>
                        <a:rPr lang="fa-IR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ن</a:t>
                      </a: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±۸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یادگیری برخط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NVS۹۰ بایت، هر ۳۰ ثانیه در </a:t>
                      </a:r>
                      <a:r>
                        <a:rPr lang="en-US" sz="1200" dirty="0" err="1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صورت</a:t>
                      </a: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تغییر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ذخیره‌سازی وزن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هر ۳۰ ثانیه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دوره تصمیم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p ≥ ۰٫۷۵ روشن، p ≤ ۰٫۲۵ خاموش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آستانه عمل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چراغ ۹۴٫۲٪ — </a:t>
                      </a:r>
                      <a:r>
                        <a:rPr lang="en-US" sz="1200" dirty="0" err="1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فن</a:t>
                      </a: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 ۹۳٫۶٪ -</a:t>
                      </a:r>
                      <a:r>
                        <a:rPr lang="fa-IR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سقف</a:t>
                      </a: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 بیزی ≈ ۹۵٪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دقت نهایی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1737360"/>
            <a:ext cx="5120640" cy="2103120"/>
          </a:xfrm>
          <a:prstGeom prst="roundRect">
            <a:avLst>
              <a:gd name="adj" fmla="val 3043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7" name="Text 4"/>
          <p:cNvSpPr/>
          <p:nvPr/>
        </p:nvSpPr>
        <p:spPr>
          <a:xfrm>
            <a:off x="713232" y="190195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۱</a:t>
            </a:r>
            <a:r>
              <a:rPr lang="fa-IR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.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پیش‌آموزش</a:t>
            </a: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آفلاین</a:t>
            </a: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روی</a:t>
            </a: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PC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13232" y="2331720"/>
            <a:ext cx="46085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دیتاست مصنوعی ۳۰ روزه بر پایه سیاست کاربر با ۴ تا ۵ درصد نویز برچسب عمدی؛ بهینه‌سازی گرادیان کامل با منظم‌ساز L2. سقف نظری (بیزی) مسئله ≈ ۹۵٪ است.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4023360"/>
            <a:ext cx="5120640" cy="2148840"/>
          </a:xfrm>
          <a:prstGeom prst="roundRect">
            <a:avLst>
              <a:gd name="adj" fmla="val 2979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0" name="Text 7"/>
          <p:cNvSpPr/>
          <p:nvPr/>
        </p:nvSpPr>
        <p:spPr>
          <a:xfrm>
            <a:off x="713232" y="418795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۲</a:t>
            </a:r>
            <a:r>
              <a:rPr lang="fa-IR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.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یادگیری</a:t>
            </a: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برخط</a:t>
            </a: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روی</a:t>
            </a: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خود</a:t>
            </a: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تراشه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13232" y="4617720"/>
            <a:ext cx="4608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8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هر اقدام دستی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کاربر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از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هر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کانال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یک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نمونه آموزشی است و یک گام SGD اجرا می‌کند؛ اقدامات خودِ مدل آموزش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نمی‌شوند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بدون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بازخورد خود-تحریک). وزن‌ها با نسخه‌گذاری در NVS ماندگارند و پس از ریست بازیابی می‌شوند.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۱۵ / ۲۵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هوش مصنوعی روی لبه — ۲) عامل یادگیری رفتاری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یادگیری برخط در عمل: از وزن‌های صفر تا الگوی کاربر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18488"/>
            <a:ext cx="7095744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pic>
        <p:nvPicPr>
          <p:cNvPr id="5" name="Image 0" descr="D:/Project/Smart-Home/report/figs/fig_ml_learning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91640"/>
            <a:ext cx="6949440" cy="3767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577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انیمیشن یادگیری آنلاین — هر اقدام کاربر یک گام SGD (fig_ml_learning)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183112" y="181051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۱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863840" y="1828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شروع در فاز سایه با w = 0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863840" y="216712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مدل هیچ چیزی نمی‌داند؛ p خروجی ثابت است.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183112" y="2834640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۲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7863840" y="28529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هر اقدام دستی = یک گام SGD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863840" y="319125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به‌روزرسانی وزن با نرخ یادگیری ۰٫۰۸ و محدودسازی ±۸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183112" y="3858768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۳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7863840" y="387705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خم p(light) به الگوی شب/روز نزدیک می‌شود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863840" y="4215384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وزن‌های همسازهای ساعتی و حضور شکل می‌گیرند.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183112" y="4882896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۴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7863840" y="490118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پس از عبور از گیت ارتقا → حالت خودکار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863840" y="523951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دقت پنجره ۲۰تایی به ≥ ۸۵٪ می‌رسد.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863840" y="580644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نکته: در انیمیشن وزن‌ها از صفر شروع می‌شوند تا فرایند یادگیری دیده شود؛ دستگاه واقعی از وزن‌های پیش‌آموزش‌شده boot می‌کند.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۱۶ / ۲۵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هوش مصنوعی روی لبه — ۲) عامل یادگیری رفتاری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چرخه زندگی مدل: فاز سایه → فاز خودکار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21208" y="1618488"/>
            <a:ext cx="7370064" cy="4014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pic>
        <p:nvPicPr>
          <p:cNvPr id="5" name="Image 0" descr="D:/Project/Smart-Home/report/figs/fig5_ml_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91640"/>
            <a:ext cx="7223760" cy="3867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83112" y="176479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۱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09244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فاز سایه: پیش‌بینی بدون اقدام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92440" y="211226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هر ۳۰ ثانیه پیش‌بینی، انتشار در MQTT و ارزیابی.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183112" y="281635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۲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09244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گیت ارتقا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92440" y="31638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پنجره متحرک ۲۰ تصمیم؛ ارتقا با ≥ ۱۵ تصمیم صحیح و دقت ≥ ۸۵٪ </a:t>
            </a:r>
            <a:r>
              <a:rPr lang="en-US" sz="11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هر</a:t>
            </a:r>
            <a:r>
              <a:rPr lang="en-US" sz="11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1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دستگاه</a:t>
            </a:r>
            <a:r>
              <a:rPr lang="en-US" sz="11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15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مستقل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1183112" y="386791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۳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09244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فاز خودکار: اقدام فقط با اطمینان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092440" y="421538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p ≥ ۰٫۷۵ → روشن، p ≤ ۰٫۲۵ → خاموش، در غیر این صورت بدون اقدام.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183112" y="491947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۴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809244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اقدام دستی همیشه برنده است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8092440" y="526694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فوراً اجرا و به‌عنوان نمونه آموزشی ثبت می‌شود؛ سوییچ ML Autonomy در HA.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092440" y="5989320"/>
            <a:ext cx="3657600" cy="475488"/>
          </a:xfrm>
          <a:prstGeom prst="roundRect">
            <a:avLst>
              <a:gd name="adj" fmla="val 13462"/>
            </a:avLst>
          </a:prstGeom>
          <a:solidFill>
            <a:srgbClr val="FBF4E4"/>
          </a:solidFill>
          <a:ln w="12700">
            <a:solidFill>
              <a:srgbClr val="FBF4E4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20" name="Text 17"/>
          <p:cNvSpPr/>
          <p:nvPr/>
        </p:nvSpPr>
        <p:spPr>
          <a:xfrm>
            <a:off x="8229600" y="598932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15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قفل در به‌طور قطعی هرگز تحت کنترل مدل نیست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۱۷ / ۲۵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هوش مصنوعی روی لبه — ۲) عامل یادگیری رفتاری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7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نتایج: مدل به مرز نظری مسئله رسیده است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348472" y="1783080"/>
            <a:ext cx="3383280" cy="1828800"/>
          </a:xfrm>
          <a:prstGeom prst="roundRect">
            <a:avLst>
              <a:gd name="adj" fmla="val 35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 dirty="0"/>
          </a:p>
        </p:txBody>
      </p:sp>
      <p:sp>
        <p:nvSpPr>
          <p:cNvPr id="5" name="Text 3"/>
          <p:cNvSpPr/>
          <p:nvPr/>
        </p:nvSpPr>
        <p:spPr>
          <a:xfrm>
            <a:off x="8348472" y="19842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6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۹۴٫۲٪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531352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دقت</a:t>
            </a:r>
            <a:r>
              <a:rPr lang="en-US" sz="14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40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چراغ</a:t>
            </a:r>
            <a:r>
              <a:rPr lang="en-US" sz="14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fa-IR" sz="14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( </a:t>
            </a:r>
            <a:r>
              <a:rPr lang="en-US" sz="140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اعتبارسنجی</a:t>
            </a:r>
            <a:r>
              <a:rPr lang="en-US" sz="14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fa-IR" sz="14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90872" y="1783080"/>
            <a:ext cx="3383280" cy="1828800"/>
          </a:xfrm>
          <a:prstGeom prst="roundRect">
            <a:avLst>
              <a:gd name="adj" fmla="val 35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sp>
        <p:nvSpPr>
          <p:cNvPr id="8" name="Text 6"/>
          <p:cNvSpPr/>
          <p:nvPr/>
        </p:nvSpPr>
        <p:spPr>
          <a:xfrm>
            <a:off x="4690872" y="19842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6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۹۳٫۶٪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873752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دقت</a:t>
            </a:r>
            <a:r>
              <a:rPr lang="en-US" sz="14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40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فن</a:t>
            </a:r>
            <a:r>
              <a:rPr lang="en-US" sz="14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fa-IR" sz="14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( </a:t>
            </a:r>
            <a:r>
              <a:rPr lang="en-US" sz="1400" dirty="0" err="1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اعتبارسنجی</a:t>
            </a:r>
            <a:r>
              <a:rPr lang="fa-IR" sz="14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33272" y="1783080"/>
            <a:ext cx="3383280" cy="1828800"/>
          </a:xfrm>
          <a:prstGeom prst="roundRect">
            <a:avLst>
              <a:gd name="adj" fmla="val 350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sp>
        <p:nvSpPr>
          <p:cNvPr id="11" name="Text 9"/>
          <p:cNvSpPr/>
          <p:nvPr/>
        </p:nvSpPr>
        <p:spPr>
          <a:xfrm>
            <a:off x="1033272" y="198424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6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≈ ۹۵٪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1216152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4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سقف بیزی مسئله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سناریوهای رفتاری مرجع — بازآزمایی روی فریمور مستقر: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74152" y="4526280"/>
            <a:ext cx="3657600" cy="1051560"/>
          </a:xfrm>
          <a:prstGeom prst="roundRect">
            <a:avLst>
              <a:gd name="adj" fmla="val 6087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5" name="Text 13"/>
          <p:cNvSpPr/>
          <p:nvPr/>
        </p:nvSpPr>
        <p:spPr>
          <a:xfrm>
            <a:off x="8275320" y="4654296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شب + حضور + تاریکی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75320" y="5056632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p ≈ ۰٫۹۹ → روشن کردن چراغ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87952" y="4526280"/>
            <a:ext cx="3657600" cy="1051560"/>
          </a:xfrm>
          <a:prstGeom prst="roundRect">
            <a:avLst>
              <a:gd name="adj" fmla="val 6087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8" name="Text 16"/>
          <p:cNvSpPr/>
          <p:nvPr/>
        </p:nvSpPr>
        <p:spPr>
          <a:xfrm>
            <a:off x="4389120" y="4654296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ظهر با چراغ روشن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389120" y="5056632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p ≤ ۰٫۰۵ → خاموش کردن چراغ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01752" y="4526280"/>
            <a:ext cx="3657600" cy="1051560"/>
          </a:xfrm>
          <a:prstGeom prst="roundRect">
            <a:avLst>
              <a:gd name="adj" fmla="val 6087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21" name="Text 19"/>
          <p:cNvSpPr/>
          <p:nvPr/>
        </p:nvSpPr>
        <p:spPr>
          <a:xfrm>
            <a:off x="502920" y="4654296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ظهر با چراغ خاموش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2920" y="5056632"/>
            <a:ext cx="3255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p ≈ ۰٫۰۷ → </a:t>
            </a:r>
            <a:r>
              <a:rPr lang="en-US" sz="130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بدون</a:t>
            </a:r>
            <a:r>
              <a:rPr lang="en-US" sz="130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30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اقدام</a:t>
            </a:r>
            <a:r>
              <a:rPr lang="en-US" sz="130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30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منطقه</a:t>
            </a:r>
            <a:r>
              <a:rPr lang="en-US" sz="130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30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سکون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5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برچسب‌های داده عمداً ۴ تا ۵ درصد نویز انسانی دارند؛ با این حال ارتقای خودکار سایه → خودکار در آزمون عملی مشاهده شد.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۱۸ / ۲۵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فصل ۷ — رابط‌های کاربری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چهار کانال موازی با یک منبع واحد وضعیت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21208" y="1709928"/>
            <a:ext cx="5952744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pic>
        <p:nvPicPr>
          <p:cNvPr id="5" name="Image 0" descr="D:/Project/Smart-Home/report/figs/fig3_ui_chann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080"/>
            <a:ext cx="5806440" cy="3310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83112" y="176479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۱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720840" y="1783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وب‌سرور امن روی خود برد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720840" y="21122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esp_https_server با گواهی خودامضا؛ TLS پیش‌نیاز فنی دسترسی به دوربین (getUserMedia).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183112" y="281635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۲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720840" y="28346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ورود کوتاه‌مسیر با QR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720840" y="316382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صفحات recognize، enroll و attendance با توکن‌های زمان‌دار و نوسازی خودکار.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183112" y="386791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۳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720840" y="3886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منبع واحد وضعیت (app_state)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720840" y="42153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نمایشگر، پنل وب، داشبورد HA و اپ HA همیشه تصویر سازگار نشان می‌دهند.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183112" y="491947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۴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720840" y="4937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تنزل محترمانه در خرابی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720840" y="526694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بدون شبکه، نمایشگر همچنان قفل، چراغ و فن را مدیریت می‌کند.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20840" y="5989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۱۳ موجودیت HA بدون یک خط کد اضافه روی برد؛ شش صفحه LVGL روی نمایشگر.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۱۹ / ۲۵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فصل ۸ — حضور و غیاب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معماری سه‌لایه با صف پیام پایا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21208" y="1709928"/>
            <a:ext cx="6089904" cy="3593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pic>
        <p:nvPicPr>
          <p:cNvPr id="5" name="Image 0" descr="D:/Project/Smart-Home/report/figs/fig4_attend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080"/>
            <a:ext cx="5943600" cy="34472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83112" y="176479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۱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812280" y="1783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لایه برد: تولید QR و تطبیق چهره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12280" y="211226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QR ده‌دقیقه‌ای با شمارش معکوس؛ ضدتکرار ۶۰ ثانیه‌ای.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183112" y="281635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۲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6812280" y="2834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صف پایا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در</a:t>
            </a: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NVS۳۲ </a:t>
            </a:r>
            <a:r>
              <a:rPr lang="en-US" sz="1550" b="1" dirty="0" err="1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خانه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812280" y="3163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اگر شبکه/سرور در دسترس نباشد رکوردها می‌مانند و بعداً به‌ترتیب ارسال می‌شوند.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183112" y="386791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۳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681228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سرور لوکال: FastAPI + SQLite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812280" y="42153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جدول به‌شکل صندوق خروج (Outbox)؛ همگام‌سازی هر ۱۵ ثانیه.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183112" y="491947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1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۴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81228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5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تحویل اختیاری: شیت شمسی + بله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812280" y="526694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تقویم جلالی بدون وابستگی؛ برد هیچ کلید ابری نگه نمی‌دارد.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۲۰ / ۲۵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فصل ۹ — امنیت و حریم خصوصی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لایه‌های دفاعی سامانه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199632" y="1691640"/>
            <a:ext cx="5532120" cy="2084832"/>
          </a:xfrm>
          <a:prstGeom prst="roundRect">
            <a:avLst>
              <a:gd name="adj" fmla="val 3070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6473952" y="191109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حریم خصوصی داده چهره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73952" y="2404872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تصویر روی خود برد پردازش و آزاد می‌شود؛ خروجی فقط «تصمیم» و بردار ویژگی است — نه تصویر خام، نه سرویس ابری.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532120" cy="2084832"/>
          </a:xfrm>
          <a:prstGeom prst="roundRect">
            <a:avLst>
              <a:gd name="adj" fmla="val 307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sp>
        <p:nvSpPr>
          <p:cNvPr id="8" name="Text 6"/>
          <p:cNvSpPr/>
          <p:nvPr/>
        </p:nvSpPr>
        <p:spPr>
          <a:xfrm>
            <a:off x="731520" y="191109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امنیت لایه وب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31520" y="2404872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TLS با گواهی خودامضا؛ کوکی نشست HttpOnly/Secure/SameSite=Strict با مهلت ۱۰ دقیقه؛ توکن‌های ۳ و ۱۰ دقیقه‌ای؛ تأخیر عمدی ۱ ثانیه در رمز نادرست.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4050792"/>
            <a:ext cx="5532120" cy="2084832"/>
          </a:xfrm>
          <a:prstGeom prst="roundRect">
            <a:avLst>
              <a:gd name="adj" fmla="val 307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sp>
        <p:nvSpPr>
          <p:cNvPr id="11" name="Text 9"/>
          <p:cNvSpPr/>
          <p:nvPr/>
        </p:nvSpPr>
        <p:spPr>
          <a:xfrm>
            <a:off x="6473952" y="427024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امنیت قفل در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73952" y="4764024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بازکردن فقط از مسیرهای تأییدشده؛ بدون هیچ مسیر فرمان از HA؛ رله با سازوکار ایمن مستقل: در صورت قطع فریمور، بازگشت خودکار به قفل حداکثر پس از ۸ ثانیه.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050792"/>
            <a:ext cx="5532120" cy="2084832"/>
          </a:xfrm>
          <a:prstGeom prst="roundRect">
            <a:avLst>
              <a:gd name="adj" fmla="val 3070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sp>
        <p:nvSpPr>
          <p:cNvPr id="14" name="Text 12"/>
          <p:cNvSpPr/>
          <p:nvPr/>
        </p:nvSpPr>
        <p:spPr>
          <a:xfrm>
            <a:off x="731520" y="427024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6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مرز شناخته‌شده و مسیر ارتقا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31520" y="4764024"/>
            <a:ext cx="49834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Mosquitto فعلاً بدون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احراز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هویت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)</a:t>
            </a:r>
            <a:r>
              <a:rPr lang="fa-IR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انتخاب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آگاهانه برای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استقرار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50" dirty="0" err="1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خانگی</a:t>
            </a:r>
            <a:r>
              <a:rPr lang="fa-IR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)</a:t>
            </a: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گام بعد: auth+TLS بروکر و WebAuthn — بدون تغییر در برد.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۲۱ / ۲۵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فصل ۱۰ — آزمایش‌ها و نتایج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آزمون انتهابه‌انتها: ۱۴ سناریو، هر ۱۴ موفق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4754880" cy="1261872"/>
          </a:xfrm>
          <a:prstGeom prst="roundRect">
            <a:avLst>
              <a:gd name="adj" fmla="val 5072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3200400" y="1828800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0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۱۴/۱۴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سناریوی آزمون موفق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182112"/>
            <a:ext cx="4754880" cy="1261872"/>
          </a:xfrm>
          <a:prstGeom prst="roundRect">
            <a:avLst>
              <a:gd name="adj" fmla="val 5072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sp>
        <p:nvSpPr>
          <p:cNvPr id="8" name="Text 6"/>
          <p:cNvSpPr/>
          <p:nvPr/>
        </p:nvSpPr>
        <p:spPr>
          <a:xfrm>
            <a:off x="3200400" y="3273552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0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۳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3273552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سطح آزمون: واحد، یکپارچگی، E2E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626864"/>
            <a:ext cx="4754880" cy="1261872"/>
          </a:xfrm>
          <a:prstGeom prst="roundRect">
            <a:avLst>
              <a:gd name="adj" fmla="val 5072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  <a:effectLst>
            <a:outerShdw blurRad="88900" dist="25400" dir="5400000" algn="bl" rotWithShape="0">
              <a:srgbClr val="1E3A5F">
                <a:alpha val="14000"/>
              </a:srgbClr>
            </a:outerShdw>
          </a:effectLst>
        </p:spPr>
        <p:txBody>
          <a:bodyPr/>
          <a:lstStyle/>
          <a:p>
            <a:endParaRPr lang="fa-IR"/>
          </a:p>
        </p:txBody>
      </p:sp>
      <p:sp>
        <p:nvSpPr>
          <p:cNvPr id="11" name="Text 9"/>
          <p:cNvSpPr/>
          <p:nvPr/>
        </p:nvSpPr>
        <p:spPr>
          <a:xfrm>
            <a:off x="3200400" y="4718304"/>
            <a:ext cx="1737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30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۰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85800" y="4718304"/>
            <a:ext cx="2468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ریست غیرعمدی در کارکرد طولانی‌مدت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1737360"/>
          <a:ext cx="6309360" cy="3730752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نتیجه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rtl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سناریو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موفق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بازکردن در با چهره در نور و زاویه متفاوت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موفق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رد چهره ناشناس و تلاش مجدد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موفق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حضور و غیاب + ضدتکرار ۶۰ ثانیه‌ای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موفق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صف پایا: قطع سرور و بازگشت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موفق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اتصال مجدد وای‌فای و MQTT (۵ تلاش)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موفق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قطعی کامل اینترنت: کارکرد همه قابلیت‌های لوکال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موفق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 rtl="1">
                        <a:buNone/>
                      </a:pPr>
                      <a:r>
                        <a:rPr lang="en-US" sz="1200" dirty="0">
                          <a:solidFill>
                            <a:srgbClr val="1A2433"/>
                          </a:solidFill>
                          <a:latin typeface="Sahel" pitchFamily="34" charset="0"/>
                          <a:ea typeface="Sahel" pitchFamily="34" charset="-122"/>
                          <a:cs typeface="Sahel" pitchFamily="34" charset="-120"/>
                        </a:rPr>
                        <a:t>بازیابی خودکار لمس از قفل‌شدگی I2C</a:t>
                      </a:r>
                      <a:endParaRPr lang="en-US" sz="1200" dirty="0">
                        <a:latin typeface="Sahel" charset="0"/>
                        <a:ea typeface="Sahel" charset="0"/>
                        <a:cs typeface="Sahel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6080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روش: توسعه فیچرمحور روی شاخه‌های Git و آزمون عملی روی برد پیش از ادغام؛ گزیده جدول ۱۰-۱ گزارش.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۲۲ / ۲۵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فصل ۱۰ — آزمایش‌ها و نتایج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چالش‌های مهندسی ریشه‌یابی‌شده و حل‌شده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1183112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405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کمبود حافظه در هندشیک TLS پس از افزودن وب‌گرافیک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40080" y="2093976"/>
            <a:ext cx="10405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ریشه: اشغال حافظه داخلی توسط بافرهای رندر LVGL → جابه‌جایی بافرها به PSRAM + keep-alive لایه شبکه + lru_purge و ۱۶ سوکت lwIP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79192"/>
            <a:ext cx="112745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8" name="Text 6"/>
          <p:cNvSpPr/>
          <p:nvPr/>
        </p:nvSpPr>
        <p:spPr>
          <a:xfrm>
            <a:off x="11183112" y="2852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۲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2807208"/>
            <a:ext cx="10405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قفل‌شدگی گذرگاه I2C کنترلر لمس GT911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3209544"/>
            <a:ext cx="10405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ریشه: نشتی mutex در مسیر خطا → اصلاح مسیر آزادسازی + «سگ‌نگهبان لمس» با توالی ریست سخت‌افزاری (RST/INT) — سامانه خودبازیاب شد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112745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2" name="Text 10"/>
          <p:cNvSpPr/>
          <p:nvPr/>
        </p:nvSpPr>
        <p:spPr>
          <a:xfrm>
            <a:off x="11183112" y="3968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۳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3922776"/>
            <a:ext cx="10405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حلقه‌های panic سگ‌نگهبان در وظیفه چهره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" y="4325112"/>
            <a:ext cx="10405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ریشه: انسداد طولانی انتظار برای کار جدید → ثبت دوره‌ای TWDT (حداکثر هر ۵ ثانیه) در حلقه انتظار + مهلت ۲۰ ثانیه‌ای برای دریافت بدنه تصویر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910328"/>
            <a:ext cx="11274552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6" name="Text 14"/>
          <p:cNvSpPr/>
          <p:nvPr/>
        </p:nvSpPr>
        <p:spPr>
          <a:xfrm>
            <a:off x="11183112" y="50840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2400" dirty="0">
                <a:solidFill>
                  <a:srgbClr val="C9962E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۴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" y="5038344"/>
            <a:ext cx="10405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45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رفتار منفعل مدل رفتاری با دقت بالا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0080" y="5440680"/>
            <a:ext cx="10405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ریشه: ویژگی «وضعیت خود دستگاه» باعث پسماند و بی‌عملی می‌شد → بازطراحی بردار ویژگی به فرم صرفاً زمینه‌ای (فصل ۶)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۲۳ / ۲۵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C9962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فصل ۱۱ — جمع‌بندی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2900" dirty="0">
                <a:solidFill>
                  <a:srgbClr val="1E3A5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جمع‌بندی و مسیر توسعه آینده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199632" y="1691640"/>
            <a:ext cx="5532120" cy="4480560"/>
          </a:xfrm>
          <a:prstGeom prst="roundRect">
            <a:avLst>
              <a:gd name="adj" fmla="val 1429"/>
            </a:avLst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5" name="Text 3"/>
          <p:cNvSpPr/>
          <p:nvPr/>
        </p:nvSpPr>
        <p:spPr>
          <a:xfrm>
            <a:off x="6473952" y="189280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آنچه ساخته شد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73952" y="2423160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تشخیص چهره کامل روی میکروکنترلر؛ دوربین و رابط کاربری قرضی از گوشی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73952" y="3044952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زیرساخت صددرصد لوکال با Docker — کارکرد کامل در قطعی اینترنت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73952" y="3666744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عامل یادگیری رفتاری با دقت ۹۴٫۲٪ و ۹۳٫۶٪ و یادگیری برخط ماندگار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73952" y="4288536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حضور و غیاب سه‌لایه با صف پایا، شیت شمسی و اعلان بله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73952" y="4910328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چهار کانال تعامل هم‌راستا با منبع واحد وضعیت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73952" y="5532120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پایداری اثبات‌شده: سگ‌نگهبان‌ها، اتصال مجدد شبکه‌آگاه، آزمون E2E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5532120" cy="4480560"/>
          </a:xfrm>
          <a:prstGeom prst="roundRect">
            <a:avLst>
              <a:gd name="adj" fmla="val 1429"/>
            </a:avLst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  <p:txBody>
          <a:bodyPr/>
          <a:lstStyle/>
          <a:p>
            <a:endParaRPr lang="fa-IR"/>
          </a:p>
        </p:txBody>
      </p:sp>
      <p:sp>
        <p:nvSpPr>
          <p:cNvPr id="13" name="Text 11"/>
          <p:cNvSpPr/>
          <p:nvPr/>
        </p:nvSpPr>
        <p:spPr>
          <a:xfrm>
            <a:off x="731520" y="189280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en-US" sz="1700" b="1" dirty="0">
                <a:solidFill>
                  <a:srgbClr val="1E3A5F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کارهای آینده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2423160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یادگیری فدرال روی میکروکنترلرها — بدون خروج داده خام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31520" y="3044952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هوشمندسازی صوتی روی تراشه با ESP-SR (کانال پنجم)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3666744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شناسایی زنده‌بودن (liveness) برای مقاوم‌سازی چهره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4288536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به‌روزرسانی بی‌سیم فریمور (OTA)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910328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امن‌سازی Mosquitto (auth + TLS) و مهاجرت به WebAuthn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5532120"/>
            <a:ext cx="4983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lnSpc>
                <a:spcPct val="1150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سنسورهای واقعی حضور/نور، اثر انگشت دو-عاملی و برد اختصاصی (PCB)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۲۴ / ۲۵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/Project/Smart-Home/report/figs/logo_1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340283" y="525967"/>
            <a:ext cx="1508386" cy="15083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019387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000" dirty="0">
                <a:solidFill>
                  <a:srgbClr val="FFFFFF"/>
                </a:solidFill>
                <a:latin typeface="Pinar Black" pitchFamily="34" charset="0"/>
                <a:ea typeface="Pinar Black" pitchFamily="34" charset="-122"/>
                <a:cs typeface="Pinar Black" pitchFamily="34" charset="-120"/>
              </a:rPr>
              <a:t>با تشکر از توجه شما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2634405" y="4007498"/>
            <a:ext cx="6920142" cy="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/>
          <a:lstStyle/>
          <a:p>
            <a:endParaRPr lang="fa-IR"/>
          </a:p>
        </p:txBody>
      </p:sp>
      <p:sp>
        <p:nvSpPr>
          <p:cNvPr id="6" name="Text 3"/>
          <p:cNvSpPr/>
          <p:nvPr/>
        </p:nvSpPr>
        <p:spPr>
          <a:xfrm>
            <a:off x="1371600" y="4340601"/>
            <a:ext cx="9445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1300" dirty="0">
                <a:solidFill>
                  <a:srgbClr val="C7D4E3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محمد سروش ربیعی — طراحی و پیاده‌سازی سامانه خانه هوشمند مبتنی بر اینترنت اشیا با هوش مصنوعی روی لبه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71600" y="4907901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rtl="1"/>
            <a:r>
              <a:rPr lang="fa-IR" sz="1200" dirty="0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</a:t>
            </a:r>
            <a:r>
              <a:rPr lang="en-US" sz="1200" dirty="0" err="1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انشگاه</a:t>
            </a:r>
            <a:r>
              <a:rPr lang="en-US" sz="1200" dirty="0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صنعتی </a:t>
            </a:r>
            <a:r>
              <a:rPr lang="en-US" sz="1200" dirty="0" err="1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اصفهان</a:t>
            </a:r>
            <a:r>
              <a:rPr lang="en-US" sz="1200" dirty="0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fa-IR" sz="1200" dirty="0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، </a:t>
            </a:r>
            <a:r>
              <a:rPr lang="en-US" sz="1200" dirty="0" err="1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دانشکده</a:t>
            </a:r>
            <a:r>
              <a:rPr lang="en-US" sz="1200" dirty="0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00" dirty="0" err="1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مهندسی</a:t>
            </a:r>
            <a:r>
              <a:rPr lang="en-US" sz="1200" dirty="0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00" dirty="0" err="1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برق</a:t>
            </a:r>
            <a:r>
              <a:rPr lang="en-US" sz="1200" dirty="0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و </a:t>
            </a:r>
            <a:r>
              <a:rPr lang="en-US" sz="1200" dirty="0" err="1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کامپیوتر</a:t>
            </a:r>
            <a:r>
              <a:rPr lang="en-US" sz="1200" dirty="0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— </a:t>
            </a:r>
            <a:r>
              <a:rPr lang="fa-IR" sz="1200" dirty="0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</a:t>
            </a:r>
            <a:r>
              <a:rPr lang="en-US" sz="1200" dirty="0" err="1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مهر</a:t>
            </a:r>
            <a:r>
              <a:rPr lang="en-US" sz="1200" dirty="0">
                <a:solidFill>
                  <a:srgbClr val="8FA3BC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 ۱۴۰۵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647395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E"/>
                </a:solidFill>
                <a:latin typeface="Sahel" pitchFamily="34" charset="0"/>
                <a:ea typeface="Sahel" pitchFamily="34" charset="-122"/>
                <a:cs typeface="Sahel" pitchFamily="34" charset="-120"/>
              </a:rPr>
              <a:t>۲۵ / ۲۵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ar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he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3565</Words>
  <Application>Microsoft Office PowerPoint</Application>
  <PresentationFormat>Widescreen</PresentationFormat>
  <Paragraphs>453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Pinar Black</vt:lpstr>
      <vt:lpstr>Sahel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طراحی و پیاده‌سازی سامانه خانه هوشمند مبتنی بر اینترنت اشیا با هوش مصنوعی روی لبه</dc:title>
  <dc:subject>PptxGenJS Presentation</dc:subject>
  <dc:creator>Mohammad Soroush Rabiei</dc:creator>
  <cp:lastModifiedBy>Mohammad Soroush Rabiei</cp:lastModifiedBy>
  <cp:revision>13</cp:revision>
  <dcterms:created xsi:type="dcterms:W3CDTF">2026-09-28T09:28:31Z</dcterms:created>
  <dcterms:modified xsi:type="dcterms:W3CDTF">2026-10-03T17:56:53Z</dcterms:modified>
</cp:coreProperties>
</file>